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5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45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325600" y="352425"/>
            <a:ext cx="3562350" cy="86677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09700" y="190500"/>
            <a:ext cx="2657475" cy="1190625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14350" y="304800"/>
            <a:ext cx="942975" cy="9620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35069" y="1182052"/>
            <a:ext cx="9817861" cy="105987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71244" y="2649220"/>
            <a:ext cx="16191865" cy="6602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5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l.acm.org/doi/10.1016/j.telpol.2025.102976" TargetMode="External"/><Relationship Id="rId2" Type="http://schemas.openxmlformats.org/officeDocument/2006/relationships/hyperlink" Target="https://www.ciscopress.com/store/security-operationscenter-building-operating-and-maintaining-9780134052014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ciencedirect.com/science/article/pii/S259000562500026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11954" y="2946781"/>
            <a:ext cx="9825355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000" spc="315" dirty="0">
                <a:solidFill>
                  <a:srgbClr val="F1D613"/>
                </a:solidFill>
              </a:rPr>
              <a:t>Problem</a:t>
            </a:r>
            <a:r>
              <a:rPr sz="6000" spc="204" dirty="0">
                <a:solidFill>
                  <a:srgbClr val="F1D613"/>
                </a:solidFill>
              </a:rPr>
              <a:t> </a:t>
            </a:r>
            <a:r>
              <a:rPr sz="6000" spc="415" dirty="0">
                <a:solidFill>
                  <a:srgbClr val="F1D613"/>
                </a:solidFill>
              </a:rPr>
              <a:t>Statement</a:t>
            </a:r>
            <a:r>
              <a:rPr sz="6000" spc="300" dirty="0">
                <a:solidFill>
                  <a:srgbClr val="F1D613"/>
                </a:solidFill>
              </a:rPr>
              <a:t> </a:t>
            </a:r>
            <a:r>
              <a:rPr sz="6000" spc="325" dirty="0">
                <a:solidFill>
                  <a:srgbClr val="F1D613"/>
                </a:solidFill>
              </a:rPr>
              <a:t>Title</a:t>
            </a:r>
            <a:endParaRPr sz="6000"/>
          </a:p>
        </p:txBody>
      </p:sp>
      <p:sp>
        <p:nvSpPr>
          <p:cNvPr id="4" name="object 4"/>
          <p:cNvSpPr txBox="1"/>
          <p:nvPr/>
        </p:nvSpPr>
        <p:spPr>
          <a:xfrm>
            <a:off x="1223644" y="5110480"/>
            <a:ext cx="14168756" cy="4006866"/>
          </a:xfrm>
          <a:prstGeom prst="rect">
            <a:avLst/>
          </a:prstGeom>
        </p:spPr>
        <p:txBody>
          <a:bodyPr vert="horz" wrap="square" lIns="0" tIns="180975" rIns="0" bIns="0" rtlCol="0">
            <a:spAutoFit/>
          </a:bodyPr>
          <a:lstStyle/>
          <a:p>
            <a:pPr marL="316865" indent="-304165">
              <a:lnSpc>
                <a:spcPct val="100000"/>
              </a:lnSpc>
              <a:spcBef>
                <a:spcPts val="1425"/>
              </a:spcBef>
              <a:buSzPct val="98148"/>
              <a:buChar char="•"/>
              <a:tabLst>
                <a:tab pos="316865" algn="l"/>
              </a:tabLst>
            </a:pPr>
            <a:r>
              <a:rPr sz="5400" b="1" spc="170" dirty="0">
                <a:solidFill>
                  <a:srgbClr val="FFFFFF"/>
                </a:solidFill>
                <a:latin typeface="Arial"/>
                <a:cs typeface="Arial"/>
              </a:rPr>
              <a:t>Track:</a:t>
            </a:r>
            <a:r>
              <a:rPr lang="en-IN" sz="5400" b="1" spc="17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5400" dirty="0">
              <a:latin typeface="Arial"/>
              <a:cs typeface="Arial"/>
            </a:endParaRPr>
          </a:p>
          <a:p>
            <a:pPr marL="316865" indent="-304165">
              <a:lnSpc>
                <a:spcPct val="100000"/>
              </a:lnSpc>
              <a:spcBef>
                <a:spcPts val="1330"/>
              </a:spcBef>
              <a:buSzPct val="98148"/>
              <a:buChar char="•"/>
              <a:tabLst>
                <a:tab pos="316865" algn="l"/>
              </a:tabLst>
            </a:pPr>
            <a:r>
              <a:rPr sz="5400" b="1" spc="465" dirty="0">
                <a:solidFill>
                  <a:srgbClr val="FFFFFF"/>
                </a:solidFill>
                <a:latin typeface="Arial"/>
                <a:cs typeface="Arial"/>
              </a:rPr>
              <a:t>PS</a:t>
            </a:r>
            <a:r>
              <a:rPr sz="5400" b="1" spc="2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400" b="1" spc="475" dirty="0">
                <a:solidFill>
                  <a:srgbClr val="FFFFFF"/>
                </a:solidFill>
                <a:latin typeface="Arial"/>
                <a:cs typeface="Arial"/>
              </a:rPr>
              <a:t>ID:</a:t>
            </a:r>
            <a:r>
              <a:rPr lang="en-IN" sz="5400" b="1" spc="475" dirty="0">
                <a:solidFill>
                  <a:srgbClr val="FFFFFF"/>
                </a:solidFill>
                <a:latin typeface="Arial"/>
                <a:cs typeface="Arial"/>
              </a:rPr>
              <a:t>402</a:t>
            </a:r>
            <a:endParaRPr sz="5400" dirty="0">
              <a:latin typeface="Arial"/>
              <a:cs typeface="Arial"/>
            </a:endParaRPr>
          </a:p>
          <a:p>
            <a:pPr marL="321310" indent="-308610">
              <a:lnSpc>
                <a:spcPct val="100000"/>
              </a:lnSpc>
              <a:spcBef>
                <a:spcPts val="1325"/>
              </a:spcBef>
              <a:buSzPct val="98148"/>
              <a:buChar char="•"/>
              <a:tabLst>
                <a:tab pos="321310" algn="l"/>
              </a:tabLst>
            </a:pPr>
            <a:r>
              <a:rPr sz="5400" b="1" spc="290" dirty="0">
                <a:solidFill>
                  <a:srgbClr val="FFFFFF"/>
                </a:solidFill>
                <a:latin typeface="Arial"/>
                <a:cs typeface="Arial"/>
              </a:rPr>
              <a:t>Team</a:t>
            </a:r>
            <a:r>
              <a:rPr sz="5400" b="1" spc="2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400" b="1" spc="185" dirty="0">
                <a:solidFill>
                  <a:srgbClr val="FFFFFF"/>
                </a:solidFill>
                <a:latin typeface="Arial"/>
                <a:cs typeface="Arial"/>
              </a:rPr>
              <a:t>Name:</a:t>
            </a:r>
            <a:r>
              <a:rPr lang="en-IN" sz="5400" b="1" spc="185" dirty="0">
                <a:solidFill>
                  <a:srgbClr val="FFFFFF"/>
                </a:solidFill>
                <a:latin typeface="Arial"/>
                <a:cs typeface="Arial"/>
              </a:rPr>
              <a:t>DATA DYNAMOS</a:t>
            </a:r>
            <a:endParaRPr sz="5400" dirty="0">
              <a:latin typeface="Arial"/>
              <a:cs typeface="Arial"/>
            </a:endParaRPr>
          </a:p>
          <a:p>
            <a:pPr marL="321310" indent="-308610">
              <a:lnSpc>
                <a:spcPct val="100000"/>
              </a:lnSpc>
              <a:spcBef>
                <a:spcPts val="1330"/>
              </a:spcBef>
              <a:buSzPct val="98148"/>
              <a:buChar char="•"/>
              <a:tabLst>
                <a:tab pos="321310" algn="l"/>
              </a:tabLst>
            </a:pPr>
            <a:r>
              <a:rPr sz="5400" b="1" spc="290" dirty="0">
                <a:solidFill>
                  <a:srgbClr val="FFFFFF"/>
                </a:solidFill>
                <a:latin typeface="Arial"/>
                <a:cs typeface="Arial"/>
              </a:rPr>
              <a:t>Team</a:t>
            </a:r>
            <a:r>
              <a:rPr sz="5400" b="1" spc="229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400" b="1" spc="280" dirty="0">
                <a:solidFill>
                  <a:srgbClr val="FFFFFF"/>
                </a:solidFill>
                <a:latin typeface="Arial"/>
                <a:cs typeface="Arial"/>
              </a:rPr>
              <a:t>Leader</a:t>
            </a:r>
            <a:r>
              <a:rPr sz="5400" b="1" spc="2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400" b="1" spc="95" dirty="0">
                <a:solidFill>
                  <a:srgbClr val="FFFFFF"/>
                </a:solidFill>
                <a:latin typeface="Arial"/>
                <a:cs typeface="Arial"/>
              </a:rPr>
              <a:t>name:</a:t>
            </a:r>
            <a:r>
              <a:rPr lang="en-IN" sz="5400" b="1" spc="95" dirty="0">
                <a:solidFill>
                  <a:srgbClr val="FFFFFF"/>
                </a:solidFill>
                <a:latin typeface="Arial"/>
                <a:cs typeface="Arial"/>
              </a:rPr>
              <a:t>JIGISHA PANCHAL</a:t>
            </a:r>
            <a:endParaRPr sz="5400" dirty="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325600" y="352425"/>
            <a:ext cx="3562350" cy="866775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514350" y="190500"/>
            <a:ext cx="3552825" cy="1190625"/>
            <a:chOff x="514350" y="190500"/>
            <a:chExt cx="3552825" cy="119062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09700" y="190500"/>
              <a:ext cx="2657475" cy="119062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4350" y="304800"/>
              <a:ext cx="942975" cy="9620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1" y="1182052"/>
            <a:ext cx="16574134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27605">
              <a:lnSpc>
                <a:spcPct val="100000"/>
              </a:lnSpc>
              <a:spcBef>
                <a:spcPts val="105"/>
              </a:spcBef>
            </a:pPr>
            <a:r>
              <a:rPr lang="en-GB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Detection of Digital Threats &amp; Malicious Content</a:t>
            </a:r>
            <a:endParaRPr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47801" y="2619732"/>
            <a:ext cx="15544800" cy="5539978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584200" lvl="1" indent="-5715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GB" sz="3200" spc="420" dirty="0">
                <a:solidFill>
                  <a:srgbClr val="F3E2D0"/>
                </a:solidFill>
                <a:uFill>
                  <a:solidFill>
                    <a:srgbClr val="F3E2D0"/>
                  </a:solidFill>
                </a:uFill>
                <a:latin typeface="Microsoft Sans Serif"/>
                <a:cs typeface="Microsoft Sans Serif"/>
              </a:rPr>
              <a:t>Core Innovation: A multi-layered AI framework that provides sub-second threat detection and autonomous, goal-driven response.</a:t>
            </a:r>
          </a:p>
          <a:p>
            <a:pPr marL="584200" lvl="1" indent="-5715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GB" sz="3200" spc="420" dirty="0">
                <a:solidFill>
                  <a:srgbClr val="F3E2D0"/>
                </a:solidFill>
                <a:uFill>
                  <a:solidFill>
                    <a:srgbClr val="F3E2D0"/>
                  </a:solidFill>
                </a:uFill>
                <a:latin typeface="Microsoft Sans Serif"/>
                <a:cs typeface="Microsoft Sans Serif"/>
              </a:rPr>
              <a:t>Unified </a:t>
            </a:r>
            <a:r>
              <a:rPr lang="en-GB" sz="3200" spc="420" dirty="0" err="1">
                <a:solidFill>
                  <a:srgbClr val="F3E2D0"/>
                </a:solidFill>
                <a:uFill>
                  <a:solidFill>
                    <a:srgbClr val="F3E2D0"/>
                  </a:solidFill>
                </a:uFill>
                <a:latin typeface="Microsoft Sans Serif"/>
                <a:cs typeface="Microsoft Sans Serif"/>
              </a:rPr>
              <a:t>Defense</a:t>
            </a:r>
            <a:r>
              <a:rPr lang="en-GB" sz="3200" spc="420" dirty="0">
                <a:solidFill>
                  <a:srgbClr val="F3E2D0"/>
                </a:solidFill>
                <a:uFill>
                  <a:solidFill>
                    <a:srgbClr val="F3E2D0"/>
                  </a:solidFill>
                </a:uFill>
                <a:latin typeface="Microsoft Sans Serif"/>
                <a:cs typeface="Microsoft Sans Serif"/>
              </a:rPr>
              <a:t>: Synthesizes intelligence from critical domains: Network, Application and Content.</a:t>
            </a:r>
          </a:p>
          <a:p>
            <a:pPr marL="584200" lvl="1" indent="-5715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GB" sz="3200" spc="420" dirty="0">
                <a:solidFill>
                  <a:srgbClr val="F3E2D0"/>
                </a:solidFill>
                <a:uFill>
                  <a:solidFill>
                    <a:srgbClr val="F3E2D0"/>
                  </a:solidFill>
                </a:uFill>
                <a:latin typeface="Microsoft Sans Serif"/>
                <a:cs typeface="Microsoft Sans Serif"/>
              </a:rPr>
              <a:t>Explainable AI (XAI): Converts complex machine learning alerts into human-readable summaries using LLMs for transparent decision-making.</a:t>
            </a:r>
          </a:p>
          <a:p>
            <a:pPr marL="584200" lvl="1" indent="-5715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GB" sz="3200" spc="420" dirty="0">
                <a:solidFill>
                  <a:srgbClr val="F3E2D0"/>
                </a:solidFill>
                <a:uFill>
                  <a:solidFill>
                    <a:srgbClr val="F3E2D0"/>
                  </a:solidFill>
                </a:uFill>
                <a:latin typeface="Microsoft Sans Serif"/>
                <a:cs typeface="Microsoft Sans Serif"/>
              </a:rPr>
              <a:t>Agentic Response: Moves beyond monitoring to active </a:t>
            </a:r>
            <a:r>
              <a:rPr lang="en-GB" sz="3200" spc="420" dirty="0" err="1">
                <a:solidFill>
                  <a:srgbClr val="F3E2D0"/>
                </a:solidFill>
                <a:uFill>
                  <a:solidFill>
                    <a:srgbClr val="F3E2D0"/>
                  </a:solidFill>
                </a:uFill>
                <a:latin typeface="Microsoft Sans Serif"/>
                <a:cs typeface="Microsoft Sans Serif"/>
              </a:rPr>
              <a:t>defense</a:t>
            </a:r>
            <a:r>
              <a:rPr lang="en-GB" sz="3200" spc="420" dirty="0">
                <a:solidFill>
                  <a:srgbClr val="F3E2D0"/>
                </a:solidFill>
                <a:uFill>
                  <a:solidFill>
                    <a:srgbClr val="F3E2D0"/>
                  </a:solidFill>
                </a:uFill>
                <a:latin typeface="Microsoft Sans Serif"/>
                <a:cs typeface="Microsoft Sans Serif"/>
              </a:rPr>
              <a:t>—automatically blocking IPs and isolating compromised systems.</a:t>
            </a:r>
            <a:endParaRPr sz="32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19150">
              <a:lnSpc>
                <a:spcPct val="100000"/>
              </a:lnSpc>
              <a:spcBef>
                <a:spcPts val="105"/>
              </a:spcBef>
            </a:pPr>
            <a:r>
              <a:rPr sz="6600" b="0" spc="330" dirty="0">
                <a:solidFill>
                  <a:srgbClr val="FFFFFF"/>
                </a:solidFill>
                <a:latin typeface="Microsoft Sans Serif"/>
                <a:cs typeface="Microsoft Sans Serif"/>
              </a:rPr>
              <a:t>Technical</a:t>
            </a:r>
            <a:r>
              <a:rPr sz="6600" b="0" spc="409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6600" b="0" spc="484" dirty="0">
                <a:solidFill>
                  <a:srgbClr val="FFFFFF"/>
                </a:solidFill>
                <a:latin typeface="Microsoft Sans Serif"/>
                <a:cs typeface="Microsoft Sans Serif"/>
              </a:rPr>
              <a:t>Approach</a:t>
            </a:r>
            <a:endParaRPr sz="6600" dirty="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47800" y="2400300"/>
            <a:ext cx="15163800" cy="6486391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307340" indent="-294640">
              <a:lnSpc>
                <a:spcPct val="100000"/>
              </a:lnSpc>
              <a:spcBef>
                <a:spcPts val="1500"/>
              </a:spcBef>
              <a:buSzPct val="98148"/>
              <a:buChar char="•"/>
              <a:tabLst>
                <a:tab pos="307340" algn="l"/>
              </a:tabLst>
            </a:pPr>
            <a:r>
              <a:rPr lang="en-IN" sz="3200" b="1" spc="315" dirty="0">
                <a:solidFill>
                  <a:srgbClr val="F3E2D0"/>
                </a:solidFill>
                <a:latin typeface="Microsoft Sans Serif"/>
                <a:cs typeface="Microsoft Sans Serif"/>
              </a:rPr>
              <a:t>Model Training &amp; Detection: Custom training of domain-specific models (LSTM for Network, BERT for NLP) using curated cybersecurity datasets. Implementation of an Inference Engine to process live telemetry and identify multi-vector attacks in real-time.</a:t>
            </a:r>
          </a:p>
          <a:p>
            <a:pPr marL="307340" indent="-294640">
              <a:lnSpc>
                <a:spcPct val="100000"/>
              </a:lnSpc>
              <a:spcBef>
                <a:spcPts val="1500"/>
              </a:spcBef>
              <a:buSzPct val="98148"/>
              <a:buChar char="•"/>
              <a:tabLst>
                <a:tab pos="307340" algn="l"/>
              </a:tabLst>
            </a:pPr>
            <a:r>
              <a:rPr lang="en-IN" sz="3200" b="1" spc="315" dirty="0">
                <a:solidFill>
                  <a:srgbClr val="F3E2D0"/>
                </a:solidFill>
                <a:latin typeface="Microsoft Sans Serif"/>
                <a:cs typeface="Microsoft Sans Serif"/>
              </a:rPr>
              <a:t>Monitoring &amp; Visualization UI: Centralized Security Dashboard developed for real-time threat visualization and log management. Interactive logs showing threat classification, severity levels, and origin.</a:t>
            </a:r>
          </a:p>
          <a:p>
            <a:pPr marL="307340" indent="-294640">
              <a:lnSpc>
                <a:spcPct val="100000"/>
              </a:lnSpc>
              <a:spcBef>
                <a:spcPts val="1500"/>
              </a:spcBef>
              <a:buSzPct val="98148"/>
              <a:buChar char="•"/>
              <a:tabLst>
                <a:tab pos="307340" algn="l"/>
              </a:tabLst>
            </a:pPr>
            <a:r>
              <a:rPr lang="en-IN" sz="3200" b="1" spc="315" dirty="0">
                <a:solidFill>
                  <a:srgbClr val="F3E2D0"/>
                </a:solidFill>
                <a:latin typeface="Microsoft Sans Serif"/>
                <a:cs typeface="Microsoft Sans Serif"/>
              </a:rPr>
              <a:t>Deployment &amp; Infrastructure: GCP (Google Cloud Platform): Hosting the heavy-lift AI models and backend processing for high availability. </a:t>
            </a:r>
            <a:r>
              <a:rPr lang="en-IN" sz="3200" b="1" spc="315" dirty="0" err="1">
                <a:solidFill>
                  <a:srgbClr val="F3E2D0"/>
                </a:solidFill>
                <a:latin typeface="Microsoft Sans Serif"/>
                <a:cs typeface="Microsoft Sans Serif"/>
              </a:rPr>
              <a:t>Vercel</a:t>
            </a:r>
            <a:r>
              <a:rPr lang="en-IN" sz="3200" b="1" spc="315" dirty="0">
                <a:solidFill>
                  <a:srgbClr val="F3E2D0"/>
                </a:solidFill>
                <a:latin typeface="Microsoft Sans Serif"/>
                <a:cs typeface="Microsoft Sans Serif"/>
              </a:rPr>
              <a:t>: Deploying the frontend for a fast, responsive, and global user interface.</a:t>
            </a:r>
            <a:endParaRPr sz="32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8930">
              <a:lnSpc>
                <a:spcPct val="100000"/>
              </a:lnSpc>
              <a:spcBef>
                <a:spcPts val="105"/>
              </a:spcBef>
            </a:pPr>
            <a:r>
              <a:rPr sz="6600" b="0" spc="430" dirty="0">
                <a:solidFill>
                  <a:srgbClr val="FFFFFF"/>
                </a:solidFill>
                <a:latin typeface="Microsoft Sans Serif"/>
                <a:cs typeface="Microsoft Sans Serif"/>
              </a:rPr>
              <a:t>Feasibility</a:t>
            </a:r>
            <a:r>
              <a:rPr sz="6600" b="0" spc="409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6600" b="0" spc="350" dirty="0">
                <a:solidFill>
                  <a:srgbClr val="FFFFFF"/>
                </a:solidFill>
                <a:latin typeface="Microsoft Sans Serif"/>
                <a:cs typeface="Microsoft Sans Serif"/>
              </a:rPr>
              <a:t>&amp;</a:t>
            </a:r>
            <a:r>
              <a:rPr sz="6600" b="0" spc="3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6600" b="0" spc="455" dirty="0">
                <a:solidFill>
                  <a:srgbClr val="FFFFFF"/>
                </a:solidFill>
                <a:latin typeface="Microsoft Sans Serif"/>
                <a:cs typeface="Microsoft Sans Serif"/>
              </a:rPr>
              <a:t>Viability</a:t>
            </a:r>
            <a:endParaRPr sz="6600" dirty="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19200" y="2400300"/>
            <a:ext cx="15532100" cy="6138219"/>
          </a:xfrm>
          <a:prstGeom prst="rect">
            <a:avLst/>
          </a:prstGeom>
        </p:spPr>
        <p:txBody>
          <a:bodyPr vert="horz" wrap="square" lIns="0" tIns="180975" rIns="0" bIns="0" rtlCol="0">
            <a:spAutoFit/>
          </a:bodyPr>
          <a:lstStyle/>
          <a:p>
            <a:pPr marL="307340" indent="-294640">
              <a:lnSpc>
                <a:spcPct val="100000"/>
              </a:lnSpc>
              <a:spcBef>
                <a:spcPts val="1425"/>
              </a:spcBef>
              <a:buSzPct val="98148"/>
              <a:buChar char="•"/>
              <a:tabLst>
                <a:tab pos="307340" algn="l"/>
              </a:tabLst>
            </a:pPr>
            <a:r>
              <a:rPr lang="en-GB" sz="3200" spc="385" dirty="0">
                <a:solidFill>
                  <a:srgbClr val="F3E2D0"/>
                </a:solidFill>
                <a:latin typeface="Microsoft Sans Serif"/>
                <a:cs typeface="Microsoft Sans Serif"/>
              </a:rPr>
              <a:t>Technical Feasibility: Leveraging pre-trained models (Transfer Learning) allows for high-accuracy deployment within a 24-hour window.</a:t>
            </a:r>
          </a:p>
          <a:p>
            <a:pPr marL="307340" indent="-294640">
              <a:lnSpc>
                <a:spcPct val="100000"/>
              </a:lnSpc>
              <a:spcBef>
                <a:spcPts val="1425"/>
              </a:spcBef>
              <a:buSzPct val="98148"/>
              <a:buChar char="•"/>
              <a:tabLst>
                <a:tab pos="307340" algn="l"/>
              </a:tabLst>
            </a:pPr>
            <a:r>
              <a:rPr lang="en-GB" sz="3200" spc="385" dirty="0">
                <a:solidFill>
                  <a:srgbClr val="F3E2D0"/>
                </a:solidFill>
                <a:latin typeface="Microsoft Sans Serif"/>
                <a:cs typeface="Microsoft Sans Serif"/>
              </a:rPr>
              <a:t>Scalability: The microservices-ready design ensures the prototype can easily migrate to enterprise tools like Elasticsearch post-hackathon.</a:t>
            </a:r>
          </a:p>
          <a:p>
            <a:pPr marL="307340" indent="-294640">
              <a:lnSpc>
                <a:spcPct val="100000"/>
              </a:lnSpc>
              <a:spcBef>
                <a:spcPts val="1425"/>
              </a:spcBef>
              <a:buSzPct val="98148"/>
              <a:buChar char="•"/>
              <a:tabLst>
                <a:tab pos="307340" algn="l"/>
              </a:tabLst>
            </a:pPr>
            <a:r>
              <a:rPr lang="en-GB" sz="3200" spc="385" dirty="0">
                <a:solidFill>
                  <a:srgbClr val="F3E2D0"/>
                </a:solidFill>
                <a:latin typeface="Microsoft Sans Serif"/>
                <a:cs typeface="Microsoft Sans Serif"/>
              </a:rPr>
              <a:t>Potential Challenges: High-volume data ingestion in a short timeframe.</a:t>
            </a:r>
          </a:p>
          <a:p>
            <a:pPr marL="307340" indent="-294640">
              <a:lnSpc>
                <a:spcPct val="100000"/>
              </a:lnSpc>
              <a:spcBef>
                <a:spcPts val="1425"/>
              </a:spcBef>
              <a:buSzPct val="98148"/>
              <a:buChar char="•"/>
              <a:tabLst>
                <a:tab pos="307340" algn="l"/>
              </a:tabLst>
            </a:pPr>
            <a:r>
              <a:rPr lang="en-GB" sz="3200" spc="385" dirty="0">
                <a:solidFill>
                  <a:srgbClr val="F3E2D0"/>
                </a:solidFill>
                <a:latin typeface="Microsoft Sans Serif"/>
                <a:cs typeface="Microsoft Sans Serif"/>
              </a:rPr>
              <a:t>Risk Mitigation: Focusing on a "Golden Path" demo—showing a specific multi-vector attack (e.g., a phishing email leading to a malicious process) to prove the correlation engine works.</a:t>
            </a:r>
            <a:endParaRPr sz="32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75055">
              <a:lnSpc>
                <a:spcPct val="100000"/>
              </a:lnSpc>
              <a:spcBef>
                <a:spcPts val="105"/>
              </a:spcBef>
            </a:pPr>
            <a:r>
              <a:rPr sz="6600" b="0" spc="635" dirty="0">
                <a:solidFill>
                  <a:srgbClr val="FFFFFF"/>
                </a:solidFill>
                <a:latin typeface="Microsoft Sans Serif"/>
                <a:cs typeface="Microsoft Sans Serif"/>
              </a:rPr>
              <a:t>Impact</a:t>
            </a:r>
            <a:r>
              <a:rPr sz="6600" b="0" spc="3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6600" b="0" spc="350" dirty="0">
                <a:solidFill>
                  <a:srgbClr val="FFFFFF"/>
                </a:solidFill>
                <a:latin typeface="Microsoft Sans Serif"/>
                <a:cs typeface="Microsoft Sans Serif"/>
              </a:rPr>
              <a:t>&amp;</a:t>
            </a:r>
            <a:r>
              <a:rPr sz="6600" b="0" spc="3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6600" b="0" spc="515" dirty="0">
                <a:solidFill>
                  <a:srgbClr val="FFFFFF"/>
                </a:solidFill>
                <a:latin typeface="Microsoft Sans Serif"/>
                <a:cs typeface="Microsoft Sans Serif"/>
              </a:rPr>
              <a:t>Benefits</a:t>
            </a:r>
            <a:endParaRPr sz="6600" dirty="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19200" y="2250533"/>
            <a:ext cx="15849600" cy="7302640"/>
          </a:xfrm>
          <a:prstGeom prst="rect">
            <a:avLst/>
          </a:prstGeom>
        </p:spPr>
        <p:txBody>
          <a:bodyPr vert="horz" wrap="square" lIns="0" tIns="180975" rIns="0" bIns="0" rtlCol="0">
            <a:spAutoFit/>
          </a:bodyPr>
          <a:lstStyle/>
          <a:p>
            <a:pPr marL="307340" indent="-294640">
              <a:lnSpc>
                <a:spcPct val="100000"/>
              </a:lnSpc>
              <a:spcBef>
                <a:spcPts val="1425"/>
              </a:spcBef>
              <a:buSzPct val="98148"/>
              <a:buChar char="•"/>
              <a:tabLst>
                <a:tab pos="307340" algn="l"/>
              </a:tabLst>
            </a:pPr>
            <a:r>
              <a:rPr lang="en-GB" sz="3200" spc="430" dirty="0">
                <a:solidFill>
                  <a:srgbClr val="F3E2D0"/>
                </a:solidFill>
                <a:latin typeface="Microsoft Sans Serif"/>
                <a:cs typeface="Microsoft Sans Serif"/>
              </a:rPr>
              <a:t>Drastic Latency Reduction: Achieves a Mean Time to Detect (MTTD) of &lt;10 second, stopping threats before they propagate.</a:t>
            </a:r>
          </a:p>
          <a:p>
            <a:pPr marL="307340" indent="-294640">
              <a:lnSpc>
                <a:spcPct val="100000"/>
              </a:lnSpc>
              <a:spcBef>
                <a:spcPts val="1425"/>
              </a:spcBef>
              <a:buSzPct val="98148"/>
              <a:buChar char="•"/>
              <a:tabLst>
                <a:tab pos="307340" algn="l"/>
              </a:tabLst>
            </a:pPr>
            <a:r>
              <a:rPr lang="en-GB" sz="3200" spc="430" dirty="0">
                <a:solidFill>
                  <a:srgbClr val="F3E2D0"/>
                </a:solidFill>
                <a:latin typeface="Microsoft Sans Serif"/>
                <a:cs typeface="Microsoft Sans Serif"/>
              </a:rPr>
              <a:t>Operational Efficiency: Automates Tier-1 SOC tasks, aiming for a 70% reduction in manual analyst workload.</a:t>
            </a:r>
          </a:p>
          <a:p>
            <a:pPr marL="307340" indent="-294640">
              <a:lnSpc>
                <a:spcPct val="100000"/>
              </a:lnSpc>
              <a:spcBef>
                <a:spcPts val="1425"/>
              </a:spcBef>
              <a:buSzPct val="98148"/>
              <a:buChar char="•"/>
              <a:tabLst>
                <a:tab pos="307340" algn="l"/>
              </a:tabLst>
            </a:pPr>
            <a:r>
              <a:rPr lang="en-GB" sz="3200" spc="430" dirty="0">
                <a:solidFill>
                  <a:srgbClr val="F3E2D0"/>
                </a:solidFill>
                <a:latin typeface="Microsoft Sans Serif"/>
                <a:cs typeface="Microsoft Sans Serif"/>
              </a:rPr>
              <a:t>Proactive </a:t>
            </a:r>
            <a:r>
              <a:rPr lang="en-GB" sz="3200" spc="430" dirty="0" err="1">
                <a:solidFill>
                  <a:srgbClr val="F3E2D0"/>
                </a:solidFill>
                <a:latin typeface="Microsoft Sans Serif"/>
                <a:cs typeface="Microsoft Sans Serif"/>
              </a:rPr>
              <a:t>Defense</a:t>
            </a:r>
            <a:r>
              <a:rPr lang="en-GB" sz="3200" spc="430" dirty="0">
                <a:solidFill>
                  <a:srgbClr val="F3E2D0"/>
                </a:solidFill>
                <a:latin typeface="Microsoft Sans Serif"/>
                <a:cs typeface="Microsoft Sans Serif"/>
              </a:rPr>
              <a:t>: Shifts the enterprise posture from "Reactive Monitoring" to "Autonomous Prevention," decreasing successful breaches by an estimated 85%.</a:t>
            </a:r>
          </a:p>
          <a:p>
            <a:pPr marL="307340" indent="-294640">
              <a:lnSpc>
                <a:spcPct val="100000"/>
              </a:lnSpc>
              <a:spcBef>
                <a:spcPts val="1425"/>
              </a:spcBef>
              <a:buSzPct val="98148"/>
              <a:buChar char="•"/>
              <a:tabLst>
                <a:tab pos="307340" algn="l"/>
              </a:tabLst>
            </a:pPr>
            <a:r>
              <a:rPr lang="en-GB" sz="3200" spc="430" dirty="0">
                <a:solidFill>
                  <a:srgbClr val="F3E2D0"/>
                </a:solidFill>
                <a:latin typeface="Microsoft Sans Serif"/>
                <a:cs typeface="Microsoft Sans Serif"/>
              </a:rPr>
              <a:t>Transparency: Uses LLM-generated summaries to provide Explainable AI (XAI), ensuring security teams understand why a threat was blocked.</a:t>
            </a:r>
          </a:p>
          <a:p>
            <a:pPr marL="307340" indent="-294640">
              <a:lnSpc>
                <a:spcPct val="100000"/>
              </a:lnSpc>
              <a:spcBef>
                <a:spcPts val="1425"/>
              </a:spcBef>
              <a:buSzPct val="98148"/>
              <a:buChar char="•"/>
              <a:tabLst>
                <a:tab pos="307340" algn="l"/>
              </a:tabLst>
            </a:pPr>
            <a:r>
              <a:rPr lang="en-GB" sz="3200" spc="430" dirty="0">
                <a:solidFill>
                  <a:srgbClr val="F3E2D0"/>
                </a:solidFill>
                <a:latin typeface="Microsoft Sans Serif"/>
                <a:cs typeface="Microsoft Sans Serif"/>
              </a:rPr>
              <a:t>Holistic Visibility: Provides a single "Source of Truth" across Network, App, and Human layers, closing the gaps left by siloed legacy tools.</a:t>
            </a:r>
            <a:endParaRPr sz="32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15235">
              <a:lnSpc>
                <a:spcPct val="100000"/>
              </a:lnSpc>
              <a:spcBef>
                <a:spcPts val="105"/>
              </a:spcBef>
            </a:pPr>
            <a:r>
              <a:rPr sz="6600" b="0" spc="409" dirty="0">
                <a:solidFill>
                  <a:srgbClr val="FFFFFF"/>
                </a:solidFill>
                <a:latin typeface="Microsoft Sans Serif"/>
                <a:cs typeface="Microsoft Sans Serif"/>
              </a:rPr>
              <a:t>References</a:t>
            </a:r>
            <a:endParaRPr sz="66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4400" y="2271602"/>
            <a:ext cx="16722724" cy="7661713"/>
          </a:xfrm>
          <a:prstGeom prst="rect">
            <a:avLst/>
          </a:prstGeom>
        </p:spPr>
        <p:txBody>
          <a:bodyPr vert="horz" wrap="square" lIns="0" tIns="180975" rIns="0" bIns="0" rtlCol="0">
            <a:spAutoFit/>
          </a:bodyPr>
          <a:lstStyle/>
          <a:p>
            <a:pPr marL="306705" indent="-294005">
              <a:lnSpc>
                <a:spcPct val="100000"/>
              </a:lnSpc>
              <a:spcBef>
                <a:spcPts val="1425"/>
              </a:spcBef>
              <a:buSzPct val="98148"/>
              <a:buChar char="•"/>
              <a:tabLst>
                <a:tab pos="306705" algn="l"/>
              </a:tabLst>
            </a:pPr>
            <a:r>
              <a:rPr lang="en-GB" sz="3200" b="1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Books &amp; Research Papers:</a:t>
            </a:r>
          </a:p>
          <a:p>
            <a:pPr marL="306705" indent="-294005">
              <a:lnSpc>
                <a:spcPct val="100000"/>
              </a:lnSpc>
              <a:spcBef>
                <a:spcPts val="1425"/>
              </a:spcBef>
              <a:buSzPct val="98148"/>
              <a:buChar char="•"/>
              <a:tabLst>
                <a:tab pos="306705" algn="l"/>
              </a:tabLst>
            </a:pPr>
            <a:r>
              <a:rPr lang="en-GB" sz="3200" dirty="0">
                <a:solidFill>
                  <a:schemeClr val="bg1"/>
                </a:solidFill>
              </a:rPr>
              <a:t>Security Operations </a:t>
            </a:r>
            <a:r>
              <a:rPr lang="en-GB" sz="3200" dirty="0" err="1">
                <a:solidFill>
                  <a:schemeClr val="bg1"/>
                </a:solidFill>
              </a:rPr>
              <a:t>Center</a:t>
            </a:r>
            <a:r>
              <a:rPr lang="en-GB" sz="3200" dirty="0">
                <a:solidFill>
                  <a:schemeClr val="bg1"/>
                </a:solidFill>
              </a:rPr>
              <a:t>: Building, Operating, and Maintaining Your SOC </a:t>
            </a:r>
            <a:r>
              <a:rPr lang="en-GB" sz="3200" dirty="0">
                <a:solidFill>
                  <a:srgbClr val="0000F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https://www.ciscopress.com/store/security-operationscenter-building-operating-and-maintaining-9780134052014</a:t>
            </a:r>
            <a:endParaRPr lang="en-GB" sz="3200" dirty="0">
              <a:solidFill>
                <a:srgbClr val="0000FF"/>
              </a:solidFill>
            </a:endParaRPr>
          </a:p>
          <a:p>
            <a:pPr marL="306705" indent="-294005">
              <a:lnSpc>
                <a:spcPct val="100000"/>
              </a:lnSpc>
              <a:spcBef>
                <a:spcPts val="1425"/>
              </a:spcBef>
              <a:buSzPct val="98148"/>
              <a:buChar char="•"/>
              <a:tabLst>
                <a:tab pos="306705" algn="l"/>
              </a:tabLst>
            </a:pPr>
            <a:r>
              <a:rPr lang="en-GB" sz="3200" dirty="0">
                <a:solidFill>
                  <a:schemeClr val="bg1"/>
                </a:solidFill>
              </a:rPr>
              <a:t>N. </a:t>
            </a:r>
            <a:r>
              <a:rPr lang="en-GB" sz="3200" dirty="0" err="1">
                <a:solidFill>
                  <a:schemeClr val="bg1"/>
                </a:solidFill>
              </a:rPr>
              <a:t>Kshetri</a:t>
            </a:r>
            <a:r>
              <a:rPr lang="en-GB" sz="3200" dirty="0">
                <a:solidFill>
                  <a:schemeClr val="bg1"/>
                </a:solidFill>
              </a:rPr>
              <a:t>, Transforming Cybersecurity with Agentic AI to Combat Cyber Threats, unpublished manuscript, accessed Sep. 22, 2025. [Online]. Available: </a:t>
            </a:r>
            <a:r>
              <a:rPr lang="en-GB" sz="3200" dirty="0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https://dl.acm.org/doi/10.1016/j.telpol.2025.102976</a:t>
            </a:r>
            <a:endParaRPr lang="en-GB" sz="3200" dirty="0">
              <a:solidFill>
                <a:srgbClr val="0000FF"/>
              </a:solidFill>
            </a:endParaRPr>
          </a:p>
          <a:p>
            <a:pPr marL="306705" indent="-294005">
              <a:lnSpc>
                <a:spcPct val="100000"/>
              </a:lnSpc>
              <a:spcBef>
                <a:spcPts val="1425"/>
              </a:spcBef>
              <a:buSzPct val="98148"/>
              <a:buChar char="•"/>
              <a:tabLst>
                <a:tab pos="306705" algn="l"/>
              </a:tabLst>
            </a:pPr>
            <a:r>
              <a:rPr lang="en-GB" sz="3200" dirty="0">
                <a:solidFill>
                  <a:schemeClr val="bg1"/>
                </a:solidFill>
              </a:rPr>
              <a:t>Suraj Regi, Improving Threat Detection with Elastic Search-based Security Information and Event Management, unpublished manuscript, accessed Sep. 22, 2025. </a:t>
            </a:r>
            <a:r>
              <a:rPr lang="en-GB" sz="3200" dirty="0">
                <a:solidFill>
                  <a:schemeClr val="bg1"/>
                </a:solidFill>
                <a:hlinkClick r:id="rId4"/>
              </a:rPr>
              <a:t>https://www.sciencedirect.com/science/article/pii/S2590005625000268</a:t>
            </a:r>
            <a:endParaRPr lang="en-GB" sz="3200" dirty="0">
              <a:solidFill>
                <a:schemeClr val="bg1"/>
              </a:solidFill>
            </a:endParaRPr>
          </a:p>
          <a:p>
            <a:pPr marL="306705" indent="-294005">
              <a:lnSpc>
                <a:spcPct val="100000"/>
              </a:lnSpc>
              <a:spcBef>
                <a:spcPts val="1425"/>
              </a:spcBef>
              <a:buSzPct val="98148"/>
              <a:buChar char="•"/>
              <a:tabLst>
                <a:tab pos="306705" algn="l"/>
              </a:tabLst>
            </a:pPr>
            <a:r>
              <a:rPr lang="en-GB" sz="3200" b="1" dirty="0">
                <a:solidFill>
                  <a:schemeClr val="bg1"/>
                </a:solidFill>
              </a:rPr>
              <a:t>Datasets:</a:t>
            </a:r>
          </a:p>
          <a:p>
            <a:pPr marL="306705" indent="-294005">
              <a:lnSpc>
                <a:spcPct val="100000"/>
              </a:lnSpc>
              <a:spcBef>
                <a:spcPts val="1425"/>
              </a:spcBef>
              <a:buSzPct val="98148"/>
              <a:buChar char="•"/>
              <a:tabLst>
                <a:tab pos="306705" algn="l"/>
              </a:tabLst>
            </a:pPr>
            <a:r>
              <a:rPr lang="en-IN" sz="3200" dirty="0">
                <a:solidFill>
                  <a:srgbClr val="0000FF"/>
                </a:solidFill>
              </a:rPr>
              <a:t>https://staff.itee.uq.edu.au/marius/NIDS_datasets/ </a:t>
            </a:r>
          </a:p>
          <a:p>
            <a:pPr marL="306705" indent="-294005">
              <a:lnSpc>
                <a:spcPct val="100000"/>
              </a:lnSpc>
              <a:spcBef>
                <a:spcPts val="1425"/>
              </a:spcBef>
              <a:buSzPct val="98148"/>
              <a:buChar char="•"/>
              <a:tabLst>
                <a:tab pos="306705" algn="l"/>
              </a:tabLst>
            </a:pPr>
            <a:r>
              <a:rPr lang="en-IN" sz="3200" dirty="0">
                <a:solidFill>
                  <a:srgbClr val="0000FF"/>
                </a:solidFill>
              </a:rPr>
              <a:t>https://rdm.uq.edu.au/files/343e2e8c-6e6e-4a0c-813d-a46acea1b7f4 </a:t>
            </a:r>
            <a:endParaRPr sz="3200" dirty="0">
              <a:solidFill>
                <a:srgbClr val="0000FF"/>
              </a:solidFill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</TotalTime>
  <Words>566</Words>
  <Application>Microsoft Office PowerPoint</Application>
  <PresentationFormat>Custom</PresentationFormat>
  <Paragraphs>33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Microsoft Sans Serif</vt:lpstr>
      <vt:lpstr>Office Theme</vt:lpstr>
      <vt:lpstr>Problem Statement Title</vt:lpstr>
      <vt:lpstr>Detection of Digital Threats &amp; Malicious Content</vt:lpstr>
      <vt:lpstr>Technical Approach</vt:lpstr>
      <vt:lpstr>Feasibility &amp; Viability</vt:lpstr>
      <vt:lpstr>Impact &amp; Benefits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DELL</dc:creator>
  <cp:lastModifiedBy>Shrey Mishra</cp:lastModifiedBy>
  <cp:revision>1</cp:revision>
  <dcterms:created xsi:type="dcterms:W3CDTF">2026-04-01T06:59:25Z</dcterms:created>
  <dcterms:modified xsi:type="dcterms:W3CDTF">2026-04-03T02:24:18Z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2026-03-30T00:00:00Z</vt:filetime>
  </property>
  <property fmtid="{D5CDD505-2E9C-101B-9397-08002B2CF9AE}" pid="3" name="LastSaved">
    <vt:filetime>2026-04-01T00:00:00Z</vt:filetime>
  </property>
</Properties>
</file>